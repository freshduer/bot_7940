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62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28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A5B9F"/>
    <a:srgbClr val="2F69B7"/>
    <a:srgbClr val="FFDDDD"/>
    <a:srgbClr val="FFA7A7"/>
    <a:srgbClr val="FFC9C9"/>
    <a:srgbClr val="F8B72D"/>
    <a:srgbClr val="BCD9F6"/>
    <a:srgbClr val="FF7979"/>
    <a:srgbClr val="348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7864" autoAdjust="0"/>
  </p:normalViewPr>
  <p:slideViewPr>
    <p:cSldViewPr snapToGrid="0">
      <p:cViewPr varScale="1">
        <p:scale>
          <a:sx n="78" d="100"/>
          <a:sy n="78" d="100"/>
        </p:scale>
        <p:origin x="339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922D6-5405-4F08-81AA-FDFC72F12E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3DD0E-B283-4AF7-B646-DC806C02C2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86C92-5611-4661-82F2-64932112E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924CA-FE19-41AC-B04A-6EF5489EC2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75058" y="2766373"/>
            <a:ext cx="96418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5293"/>
                </a:solidFill>
                <a:sym typeface="+mn-ea"/>
              </a:rPr>
              <a:t>Cloud-Deployed Telegram Chatbot</a:t>
            </a:r>
            <a:endParaRPr lang="zh-CN" altLang="en-US" sz="2800" b="1" dirty="0">
              <a:solidFill>
                <a:srgbClr val="1A5B9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38593" y="3954136"/>
            <a:ext cx="5172710" cy="450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baseline="30000" dirty="0">
                <a:solidFill>
                  <a:srgbClr val="0F489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Wenjun YU,Zhan ZHAO, Guofan YU</a:t>
            </a:r>
            <a:endParaRPr lang="en-US" altLang="zh-CN" sz="3600" b="1" baseline="30000" dirty="0">
              <a:solidFill>
                <a:srgbClr val="0F489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 rotWithShape="1"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1561"/>
          <a:stretch>
            <a:fillRect/>
          </a:stretch>
        </p:blipFill>
        <p:spPr>
          <a:xfrm>
            <a:off x="-640420" y="-127455"/>
            <a:ext cx="6863249" cy="1060868"/>
          </a:xfrm>
          <a:prstGeom prst="rect">
            <a:avLst/>
          </a:prstGeom>
        </p:spPr>
      </p:pic>
      <p:pic>
        <p:nvPicPr>
          <p:cNvPr id="1027" name="Picture 3" descr="香港浸会大学- 维基百科，自由的百科全书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991" y="1226258"/>
            <a:ext cx="1368015" cy="136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直角三角形 8"/>
          <p:cNvSpPr/>
          <p:nvPr/>
        </p:nvSpPr>
        <p:spPr>
          <a:xfrm>
            <a:off x="-24035" y="4605584"/>
            <a:ext cx="6523538" cy="2253881"/>
          </a:xfrm>
          <a:prstGeom prst="rtTriangle">
            <a:avLst/>
          </a:prstGeom>
          <a:solidFill>
            <a:srgbClr val="D1AB6C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/>
        </p:nvSpPr>
        <p:spPr>
          <a:xfrm flipH="1">
            <a:off x="4373818" y="3717372"/>
            <a:ext cx="7815150" cy="3140627"/>
          </a:xfrm>
          <a:prstGeom prst="rtTriangle">
            <a:avLst/>
          </a:prstGeom>
          <a:solidFill>
            <a:srgbClr val="15589D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 rot="10800000">
            <a:off x="6308744" y="101258"/>
            <a:ext cx="656650" cy="515502"/>
            <a:chOff x="3602368" y="2540682"/>
            <a:chExt cx="994180" cy="810072"/>
          </a:xfrm>
        </p:grpSpPr>
        <p:sp>
          <p:nvSpPr>
            <p:cNvPr id="4" name="等腰三角形 3"/>
            <p:cNvSpPr/>
            <p:nvPr/>
          </p:nvSpPr>
          <p:spPr>
            <a:xfrm rot="10800000">
              <a:off x="3602368" y="2540682"/>
              <a:ext cx="994180" cy="810072"/>
            </a:xfrm>
            <a:prstGeom prst="triangle">
              <a:avLst/>
            </a:prstGeom>
            <a:solidFill>
              <a:srgbClr val="2F69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>
              <a:off x="3858584" y="2540682"/>
              <a:ext cx="481748" cy="4295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729945" y="104970"/>
            <a:ext cx="1293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en-US" altLang="zh-CN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5308" y="976528"/>
            <a:ext cx="3959860" cy="5067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1400"/>
              </a:spcBef>
              <a:spcAft>
                <a:spcPts val="800"/>
              </a:spcAft>
            </a:pPr>
            <a:r>
              <a:rPr sz="2000" b="1">
                <a:solidFill>
                  <a:srgbClr val="003366"/>
                </a:solidFill>
                <a:sym typeface="+mn-ea"/>
              </a:rPr>
              <a:t>▶  1. Project Overview</a:t>
            </a:r>
            <a:endParaRPr sz="2000" b="1">
              <a:solidFill>
                <a:srgbClr val="003366"/>
              </a:solidFill>
            </a:endParaRPr>
          </a:p>
          <a:p>
            <a:pPr algn="l">
              <a:spcBef>
                <a:spcPts val="1400"/>
              </a:spcBef>
              <a:spcAft>
                <a:spcPts val="800"/>
              </a:spcAft>
            </a:pPr>
            <a:r>
              <a:rPr sz="2000" b="1">
                <a:solidFill>
                  <a:srgbClr val="003366"/>
                </a:solidFill>
                <a:sym typeface="+mn-ea"/>
              </a:rPr>
              <a:t>▶  2. System Architecture</a:t>
            </a:r>
            <a:endParaRPr sz="2000" b="1">
              <a:solidFill>
                <a:srgbClr val="003366"/>
              </a:solidFill>
            </a:endParaRPr>
          </a:p>
          <a:p>
            <a:pPr algn="l">
              <a:spcBef>
                <a:spcPts val="1400"/>
              </a:spcBef>
              <a:spcAft>
                <a:spcPts val="800"/>
              </a:spcAft>
            </a:pPr>
            <a:r>
              <a:rPr sz="2000" b="1">
                <a:solidFill>
                  <a:srgbClr val="003366"/>
                </a:solidFill>
                <a:sym typeface="+mn-ea"/>
              </a:rPr>
              <a:t>▶  3. Technical Implementation</a:t>
            </a:r>
            <a:endParaRPr sz="2000" b="1">
              <a:solidFill>
                <a:srgbClr val="003366"/>
              </a:solidFill>
            </a:endParaRP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    3.1 HKBU GenAI API Integration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    3.2 Redis Cloud Logging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    3.3 </a:t>
            </a:r>
            <a:r>
              <a:rPr lang="en-US" altLang="zh-CN" sz="2000" b="0">
                <a:solidFill>
                  <a:srgbClr val="000000"/>
                </a:solidFill>
              </a:rPr>
              <a:t>Docker Compose Multi-Service</a:t>
            </a:r>
            <a:endParaRPr lang="en-US" altLang="zh-CN" sz="2000" b="0">
              <a:solidFill>
                <a:srgbClr val="000000"/>
              </a:solidFill>
            </a:endParaRP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    3.4 Auto-Compact Optimization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    3.5 Cron + Heartbeat Scheduling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1400"/>
              </a:spcBef>
              <a:spcAft>
                <a:spcPts val="800"/>
              </a:spcAft>
            </a:pPr>
            <a:r>
              <a:rPr sz="2000" b="1">
                <a:solidFill>
                  <a:srgbClr val="003366"/>
                </a:solidFill>
                <a:sym typeface="+mn-ea"/>
              </a:rPr>
              <a:t>▶  4. Cloud Deployment &amp; CI/CD</a:t>
            </a:r>
            <a:endParaRPr sz="2000" b="1">
              <a:solidFill>
                <a:srgbClr val="003366"/>
              </a:solidFill>
            </a:endParaRPr>
          </a:p>
          <a:p>
            <a:pPr algn="l">
              <a:spcBef>
                <a:spcPts val="1400"/>
              </a:spcBef>
              <a:spcAft>
                <a:spcPts val="800"/>
              </a:spcAft>
            </a:pPr>
            <a:r>
              <a:rPr sz="2000" b="1">
                <a:solidFill>
                  <a:srgbClr val="003366"/>
                </a:solidFill>
                <a:sym typeface="+mn-ea"/>
              </a:rPr>
              <a:t>▶  5. Cost Analysis &amp; Conclusion</a:t>
            </a:r>
            <a:endParaRPr lang="en-US" altLang="zh-CN" sz="2000" b="1" dirty="0">
              <a:solidFill>
                <a:srgbClr val="003366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477965" y="107194"/>
            <a:ext cx="2718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sym typeface="+mn-ea"/>
              </a:rPr>
              <a:t>Project Overview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 rot="10800000">
            <a:off x="5716924" y="101258"/>
            <a:ext cx="656650" cy="515502"/>
            <a:chOff x="3602368" y="2540682"/>
            <a:chExt cx="994180" cy="810072"/>
          </a:xfrm>
        </p:grpSpPr>
        <p:sp>
          <p:nvSpPr>
            <p:cNvPr id="11" name="等腰三角形 10"/>
            <p:cNvSpPr/>
            <p:nvPr/>
          </p:nvSpPr>
          <p:spPr>
            <a:xfrm rot="10800000">
              <a:off x="3602368" y="2540682"/>
              <a:ext cx="994180" cy="810072"/>
            </a:xfrm>
            <a:prstGeom prst="triangle">
              <a:avLst/>
            </a:prstGeom>
            <a:solidFill>
              <a:srgbClr val="2F69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3858584" y="2540682"/>
              <a:ext cx="481748" cy="4295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Telegram Chatbot</a:t>
            </a:r>
            <a:endParaRPr 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288290" y="1377315"/>
            <a:ext cx="64293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This project is a cloud-deployed Telegram chatbot built on the open-source nanobot framework (v0.1.5). The bot</a:t>
            </a:r>
            <a:endParaRPr lang="en-US" altLang="zh-CN"/>
          </a:p>
          <a:p>
            <a:r>
              <a:rPr lang="en-US" altLang="zh-CN"/>
              <a:t>accepts natural-language input from users via Telegram and responds by calling a Large Language Model (LLM) backend.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25" y="1221740"/>
            <a:ext cx="5638165" cy="15030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96405" y="3773170"/>
            <a:ext cx="4071620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/>
              <a:t>Core functional features:</a:t>
            </a:r>
            <a:endParaRPr lang="en-US" altLang="zh-CN" sz="1600" b="1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Natural language chat via Telegram Bot API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LLM-powered responses via HKBU GenAI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Conversation logging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Streaming output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Multi-service Docker Compose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Auto-deployment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Memory &amp; session management 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 Autonomous scheduling </a:t>
            </a:r>
            <a:endParaRPr lang="en-US" altLang="zh-CN" sz="16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" y="2653665"/>
            <a:ext cx="5069840" cy="4083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125540" y="81794"/>
            <a:ext cx="3142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1400"/>
              </a:spcBef>
              <a:spcAft>
                <a:spcPts val="800"/>
              </a:spcAft>
            </a:pPr>
            <a:r>
              <a:rPr sz="2800" b="1">
                <a:solidFill>
                  <a:srgbClr val="003366"/>
                </a:solidFill>
                <a:sym typeface="+mn-ea"/>
              </a:rPr>
              <a:t>System Architecture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 rot="10800000">
            <a:off x="5307984" y="87923"/>
            <a:ext cx="656650" cy="515502"/>
            <a:chOff x="3602368" y="2540682"/>
            <a:chExt cx="994180" cy="810072"/>
          </a:xfrm>
        </p:grpSpPr>
        <p:sp>
          <p:nvSpPr>
            <p:cNvPr id="11" name="等腰三角形 10"/>
            <p:cNvSpPr/>
            <p:nvPr/>
          </p:nvSpPr>
          <p:spPr>
            <a:xfrm rot="10800000">
              <a:off x="3602368" y="2540682"/>
              <a:ext cx="994180" cy="810072"/>
            </a:xfrm>
            <a:prstGeom prst="triangle">
              <a:avLst/>
            </a:prstGeom>
            <a:solidFill>
              <a:srgbClr val="2F69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3858584" y="2540682"/>
              <a:ext cx="481748" cy="4295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Telegram Chatbot</a:t>
            </a:r>
            <a:endParaRPr lang="en-US" sz="3600" dirty="0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4378325" y="1569720"/>
            <a:ext cx="7668895" cy="477964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0" y="1501140"/>
            <a:ext cx="4064000" cy="3027680"/>
            <a:chOff x="517" y="2565"/>
            <a:chExt cx="6400" cy="4768"/>
          </a:xfrm>
        </p:grpSpPr>
        <p:sp>
          <p:nvSpPr>
            <p:cNvPr id="14" name="文本框 13"/>
            <p:cNvSpPr txBox="1"/>
            <p:nvPr/>
          </p:nvSpPr>
          <p:spPr>
            <a:xfrm>
              <a:off x="592" y="3165"/>
              <a:ext cx="6205" cy="416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/>
                <a:t>1. User sends message in Telegram</a:t>
              </a:r>
              <a:endParaRPr lang="en-US" altLang="zh-CN"/>
            </a:p>
            <a:p>
              <a:r>
                <a:rPr lang="en-US" altLang="zh-CN"/>
                <a:t>2. Gateway receives via long polling</a:t>
              </a:r>
              <a:endParaRPr lang="en-US" altLang="zh-CN"/>
            </a:p>
            <a:p>
              <a:r>
                <a:rPr lang="en-US" altLang="zh-CN"/>
                <a:t>3. Agent builds prompt from session history</a:t>
              </a:r>
              <a:endParaRPr lang="en-US" altLang="zh-CN"/>
            </a:p>
            <a:p>
              <a:r>
                <a:rPr lang="en-US" altLang="zh-CN"/>
                <a:t>4. LLM call </a:t>
              </a:r>
              <a:r>
                <a:rPr lang="en-US" altLang="en-US"/>
                <a:t>→</a:t>
              </a:r>
              <a:r>
                <a:rPr lang="en-US" altLang="zh-CN"/>
                <a:t> HKBU GenAI API</a:t>
              </a:r>
              <a:endParaRPr lang="en-US" altLang="zh-CN"/>
            </a:p>
            <a:p>
              <a:r>
                <a:rPr lang="en-US" altLang="zh-CN"/>
                <a:t>5. Streaming response edited in real time</a:t>
              </a:r>
              <a:endParaRPr lang="en-US" altLang="zh-CN"/>
            </a:p>
            <a:p>
              <a:r>
                <a:rPr lang="en-US" altLang="zh-CN"/>
                <a:t>6. Redis writes user + assistant turns</a:t>
              </a:r>
              <a:endParaRPr lang="en-US" altLang="zh-CN"/>
            </a:p>
            <a:p>
              <a:r>
                <a:rPr lang="en-US" altLang="zh-CN"/>
                <a:t>7. Final message delivered to user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17" y="2565"/>
              <a:ext cx="640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/>
                <a:t>System workflow</a:t>
              </a:r>
              <a:endParaRPr lang="en-US" altLang="zh-CN" sz="2400" b="1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5720" y="495808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Memory:</a:t>
            </a:r>
            <a:r>
              <a:rPr lang="en-US" altLang="zh-CN"/>
              <a:t>Redis</a:t>
            </a:r>
            <a:endParaRPr lang="en-US" altLang="zh-CN"/>
          </a:p>
          <a:p>
            <a:r>
              <a:rPr lang="en-US" altLang="zh-CN" b="1"/>
              <a:t>User Interface:</a:t>
            </a:r>
            <a:r>
              <a:rPr lang="en-US" altLang="zh-CN"/>
              <a:t>telegram</a:t>
            </a:r>
            <a:endParaRPr lang="en-US" altLang="zh-CN"/>
          </a:p>
          <a:p>
            <a:r>
              <a:rPr lang="en-US" altLang="zh-CN" b="1"/>
              <a:t>Deployment:</a:t>
            </a:r>
            <a:r>
              <a:rPr lang="en-US" altLang="zh-CN"/>
              <a:t>docker</a:t>
            </a:r>
            <a:endParaRPr lang="en-US" altLang="zh-CN"/>
          </a:p>
          <a:p>
            <a:r>
              <a:rPr lang="en-US" altLang="zh-CN" b="1"/>
              <a:t>Framework:</a:t>
            </a:r>
            <a:r>
              <a:rPr lang="en-US" altLang="zh-CN"/>
              <a:t>nanobot</a:t>
            </a:r>
            <a:endParaRPr lang="en-US" altLang="zh-CN"/>
          </a:p>
          <a:p>
            <a:r>
              <a:rPr lang="en-US" altLang="zh-CN" b="1"/>
              <a:t>LLM Backend:</a:t>
            </a:r>
            <a:r>
              <a:rPr lang="en-US" altLang="zh-CN"/>
              <a:t>HKBU API </a:t>
            </a:r>
            <a:r>
              <a:rPr lang="en-US" altLang="zh-CN"/>
              <a:t>Platform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4509135" y="111760"/>
            <a:ext cx="4744720" cy="521970"/>
            <a:chOff x="9935" y="159"/>
            <a:chExt cx="7472" cy="822"/>
          </a:xfrm>
        </p:grpSpPr>
        <p:sp>
          <p:nvSpPr>
            <p:cNvPr id="7" name="文本框 6"/>
            <p:cNvSpPr txBox="1"/>
            <p:nvPr/>
          </p:nvSpPr>
          <p:spPr>
            <a:xfrm>
              <a:off x="11113" y="159"/>
              <a:ext cx="629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Technical Implementation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1" name="等腰三角形 10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HKBU GenAI API Integration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577850" y="4043680"/>
            <a:ext cx="6042660" cy="17227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00000"/>
                </a:solidFill>
              </a:rPr>
              <a:t>✓ Added defaultQuery &amp; authStyle fields to nanobot ProviderConfig schema</a:t>
            </a:r>
            <a:endParaRPr sz="1800">
              <a:solidFill>
                <a:srgbClr val="000000"/>
              </a:solidFill>
            </a:endParaRP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00000"/>
                </a:solidFill>
              </a:rPr>
              <a:t>✓ Enables Azure-style endpoints with api-key authentication</a:t>
            </a:r>
            <a:endParaRPr sz="1800">
              <a:solidFill>
                <a:srgbClr val="000000"/>
              </a:solidFill>
            </a:endParaRP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00000"/>
                </a:solidFill>
              </a:rPr>
              <a:t>✓ Supports required api-version query parameter</a:t>
            </a:r>
            <a:endParaRPr sz="1800">
              <a:solidFill>
                <a:srgbClr val="000000"/>
              </a:solidFill>
            </a:endParaRP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00000"/>
                </a:solidFill>
              </a:rPr>
              <a:t>✓ Source: nanobot/config/schema.py, providers/openai_compat_provider.py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735" y="1264920"/>
            <a:ext cx="4831715" cy="51009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590" y="1435735"/>
            <a:ext cx="3389630" cy="2607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Redis Cloud Conversation Logging</a:t>
            </a:r>
            <a:endParaRPr lang="en-US" sz="3600" dirty="0"/>
          </a:p>
        </p:txBody>
      </p:sp>
      <p:sp>
        <p:nvSpPr>
          <p:cNvPr id="9" name="文本框 8"/>
          <p:cNvSpPr txBox="1"/>
          <p:nvPr/>
        </p:nvSpPr>
        <p:spPr>
          <a:xfrm>
            <a:off x="189865" y="2256790"/>
            <a:ext cx="5906770" cy="3091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sym typeface="+mn-ea"/>
              </a:rPr>
              <a:t>• Every user/assistant turn persisted to Redis Cloud</a:t>
            </a:r>
            <a:endParaRPr sz="2000" b="1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• Log entry structure: timestamp, role, sender_id, text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• Key format: nanobot:conv:{session_key}:{epoch}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• Supports historical conversation replay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• Enables debugging and audit trail</a:t>
            </a:r>
            <a:endParaRPr sz="20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sym typeface="+mn-ea"/>
              </a:rPr>
              <a:t>• SSL/TLS encrypted connection</a:t>
            </a:r>
            <a:endParaRPr lang="zh-CN" altLang="en-US" sz="2000">
              <a:solidFill>
                <a:srgbClr val="000000"/>
              </a:solidFill>
              <a:sym typeface="+mn-ea"/>
            </a:endParaRPr>
          </a:p>
        </p:txBody>
      </p:sp>
      <p:pic>
        <p:nvPicPr>
          <p:cNvPr id="16" name="图片 15" descr="图片"/>
          <p:cNvPicPr>
            <a:picLocks noChangeAspect="1"/>
          </p:cNvPicPr>
          <p:nvPr/>
        </p:nvPicPr>
        <p:blipFill>
          <a:blip r:embed="rId3"/>
          <a:srcRect l="25752" t="16992"/>
          <a:stretch>
            <a:fillRect/>
          </a:stretch>
        </p:blipFill>
        <p:spPr>
          <a:xfrm>
            <a:off x="6174105" y="1797685"/>
            <a:ext cx="5608320" cy="391604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509135" y="111760"/>
            <a:ext cx="4744720" cy="521970"/>
            <a:chOff x="9935" y="159"/>
            <a:chExt cx="7472" cy="822"/>
          </a:xfrm>
        </p:grpSpPr>
        <p:sp>
          <p:nvSpPr>
            <p:cNvPr id="8" name="文本框 7"/>
            <p:cNvSpPr txBox="1"/>
            <p:nvPr/>
          </p:nvSpPr>
          <p:spPr>
            <a:xfrm>
              <a:off x="11113" y="159"/>
              <a:ext cx="629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Technical Implementation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4" name="等腰三角形 13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sz="3600" b="1">
                <a:solidFill>
                  <a:srgbClr val="003366"/>
                </a:solidFill>
                <a:sym typeface="+mn-ea"/>
              </a:rPr>
              <a:t>Docker Compose Multi-Service</a:t>
            </a:r>
            <a:endParaRPr sz="3600" b="1">
              <a:solidFill>
                <a:srgbClr val="003366"/>
              </a:solidFill>
            </a:endParaRPr>
          </a:p>
        </p:txBody>
      </p:sp>
      <p:sp>
        <p:nvSpPr>
          <p:cNvPr id="15" name="Rounded Rectangle 6"/>
          <p:cNvSpPr/>
          <p:nvPr>
            <p:custDataLst>
              <p:tags r:id="rId3"/>
            </p:custDataLst>
          </p:nvPr>
        </p:nvSpPr>
        <p:spPr>
          <a:xfrm>
            <a:off x="457200" y="1645920"/>
            <a:ext cx="457200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7"/>
          <p:cNvSpPr txBox="1"/>
          <p:nvPr>
            <p:custDataLst>
              <p:tags r:id="rId4"/>
            </p:custDataLst>
          </p:nvPr>
        </p:nvSpPr>
        <p:spPr>
          <a:xfrm>
            <a:off x="548640" y="173736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nanobot-gateway</a:t>
            </a:r>
            <a:br>
              <a:rPr sz="1800" b="1">
                <a:solidFill>
                  <a:srgbClr val="FFFFFF"/>
                </a:solidFill>
              </a:rPr>
            </a:br>
            <a:r>
              <a:rPr sz="1800" b="1">
                <a:solidFill>
                  <a:srgbClr val="FFFFFF"/>
                </a:solidFill>
              </a:rPr>
              <a:t>Port 18790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8" name="Rounded Rectangle 8"/>
          <p:cNvSpPr/>
          <p:nvPr>
            <p:custDataLst>
              <p:tags r:id="rId5"/>
            </p:custDataLst>
          </p:nvPr>
        </p:nvSpPr>
        <p:spPr>
          <a:xfrm>
            <a:off x="457200" y="2834640"/>
            <a:ext cx="457200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9"/>
          <p:cNvSpPr txBox="1"/>
          <p:nvPr>
            <p:custDataLst>
              <p:tags r:id="rId6"/>
            </p:custDataLst>
          </p:nvPr>
        </p:nvSpPr>
        <p:spPr>
          <a:xfrm>
            <a:off x="548640" y="292608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nanobot-api</a:t>
            </a:r>
            <a:br>
              <a:rPr sz="1800" b="1">
                <a:solidFill>
                  <a:srgbClr val="FFFFFF"/>
                </a:solidFill>
              </a:rPr>
            </a:br>
            <a:r>
              <a:rPr sz="1800" b="1">
                <a:solidFill>
                  <a:srgbClr val="FFFFFF"/>
                </a:solidFill>
              </a:rPr>
              <a:t>Port 8900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0" name="Rounded Rectangle 10"/>
          <p:cNvSpPr/>
          <p:nvPr>
            <p:custDataLst>
              <p:tags r:id="rId7"/>
            </p:custDataLst>
          </p:nvPr>
        </p:nvSpPr>
        <p:spPr>
          <a:xfrm>
            <a:off x="457200" y="4023360"/>
            <a:ext cx="4572000" cy="9144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11"/>
          <p:cNvSpPr txBox="1"/>
          <p:nvPr>
            <p:custDataLst>
              <p:tags r:id="rId8"/>
            </p:custDataLst>
          </p:nvPr>
        </p:nvSpPr>
        <p:spPr>
          <a:xfrm>
            <a:off x="548640" y="411480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nanobot-cli</a:t>
            </a:r>
            <a:br>
              <a:rPr sz="1800" b="1">
                <a:solidFill>
                  <a:srgbClr val="FFFFFF"/>
                </a:solidFill>
              </a:rPr>
            </a:br>
            <a:r>
              <a:rPr sz="1800" b="1">
                <a:solidFill>
                  <a:srgbClr val="FFFFFF"/>
                </a:solidFill>
              </a:rPr>
              <a:t>CLI profile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5592445" y="4161155"/>
            <a:ext cx="3893820" cy="2270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200" b="1">
                <a:solidFill>
                  <a:srgbClr val="008000"/>
                </a:solidFill>
              </a:rPr>
              <a:t>Security Hardening</a:t>
            </a:r>
            <a:endParaRPr sz="2200" b="1">
              <a:solidFill>
                <a:srgbClr val="008000"/>
              </a:solidFill>
            </a:endParaRP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000000"/>
                </a:solidFill>
              </a:rPr>
              <a:t>• cap_drop: ALL (drop all capabilities)</a:t>
            </a:r>
            <a:endParaRPr sz="16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000000"/>
                </a:solidFill>
              </a:rPr>
              <a:t>• SYS_ADMIN only (for bubblewrap)</a:t>
            </a:r>
            <a:endParaRPr sz="16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000000"/>
                </a:solidFill>
              </a:rPr>
              <a:t>• Non-root user execution</a:t>
            </a:r>
            <a:endParaRPr sz="16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000000"/>
                </a:solidFill>
              </a:rPr>
              <a:t>• Resource limits: CPU &amp; Memory</a:t>
            </a:r>
            <a:endParaRPr sz="16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000000"/>
                </a:solidFill>
              </a:rPr>
              <a:t>• Restart policies configured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2680" y="1365885"/>
            <a:ext cx="2801620" cy="332359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4045" y="1435735"/>
            <a:ext cx="2957830" cy="251079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509135" y="111760"/>
            <a:ext cx="4744720" cy="521970"/>
            <a:chOff x="9935" y="159"/>
            <a:chExt cx="7472" cy="822"/>
          </a:xfrm>
        </p:grpSpPr>
        <p:sp>
          <p:nvSpPr>
            <p:cNvPr id="8" name="文本框 7"/>
            <p:cNvSpPr txBox="1"/>
            <p:nvPr/>
          </p:nvSpPr>
          <p:spPr>
            <a:xfrm>
              <a:off x="11113" y="159"/>
              <a:ext cx="629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Technical Implementation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3" name="等腰三角形 12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4684395" y="87630"/>
            <a:ext cx="4744720" cy="521970"/>
            <a:chOff x="9935" y="159"/>
            <a:chExt cx="7472" cy="822"/>
          </a:xfrm>
        </p:grpSpPr>
        <p:sp>
          <p:nvSpPr>
            <p:cNvPr id="7" name="文本框 6"/>
            <p:cNvSpPr txBox="1"/>
            <p:nvPr/>
          </p:nvSpPr>
          <p:spPr>
            <a:xfrm>
              <a:off x="11113" y="159"/>
              <a:ext cx="629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Technical Implementation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1" name="等腰三角形 10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Auto-Compact Session Optimization</a:t>
            </a:r>
            <a:endParaRPr lang="en-US" sz="3600" b="1" dirty="0">
              <a:solidFill>
                <a:srgbClr val="003366"/>
              </a:solidFill>
              <a:sym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6395" y="1895475"/>
            <a:ext cx="5486400" cy="32073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• Idle session detection (configurable TTL)</a:t>
            </a:r>
            <a:endParaRPr sz="18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• Splits history: archive prefix + recent 8 messages</a:t>
            </a:r>
            <a:endParaRPr sz="18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• LLM summarization of archived messages</a:t>
            </a:r>
            <a:endParaRPr sz="18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• Persists summary to history.jsonl</a:t>
            </a:r>
            <a:endParaRPr sz="18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• Reduces live prompt size by ~75%</a:t>
            </a:r>
            <a:endParaRPr sz="1800" b="0">
              <a:solidFill>
                <a:srgbClr val="000000"/>
              </a:solidFill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• TTL set to 15 minutes of inactivity</a:t>
            </a:r>
            <a:endParaRPr sz="1800" b="0">
              <a:solidFill>
                <a:srgbClr val="00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05" y="1789430"/>
            <a:ext cx="5673725" cy="32785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5196205" y="87630"/>
            <a:ext cx="4744720" cy="521970"/>
            <a:chOff x="9935" y="159"/>
            <a:chExt cx="7472" cy="822"/>
          </a:xfrm>
        </p:grpSpPr>
        <p:sp>
          <p:nvSpPr>
            <p:cNvPr id="7" name="文本框 6"/>
            <p:cNvSpPr txBox="1"/>
            <p:nvPr/>
          </p:nvSpPr>
          <p:spPr>
            <a:xfrm>
              <a:off x="11113" y="159"/>
              <a:ext cx="629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Technical Implementation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1" name="等腰三角形 10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190096" y="79206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solidFill>
                  <a:srgbClr val="003366"/>
                </a:solidFill>
                <a:sym typeface="+mn-ea"/>
              </a:rPr>
              <a:t>Cron + Heartbeat Scheduling-scheduled task</a:t>
            </a:r>
            <a:endParaRPr lang="en-US" altLang="zh-CN" sz="3600" b="1" dirty="0">
              <a:solidFill>
                <a:srgbClr val="003366"/>
              </a:solidFill>
              <a:sym typeface="+mn-ea"/>
            </a:endParaRPr>
          </a:p>
        </p:txBody>
      </p:sp>
      <p:pic>
        <p:nvPicPr>
          <p:cNvPr id="9" name="Picture 9" descr="05_telegram_cha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0" y="1496060"/>
            <a:ext cx="2613660" cy="45720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518160" y="3624580"/>
            <a:ext cx="6561455" cy="1828800"/>
            <a:chOff x="1896" y="6129"/>
            <a:chExt cx="10333" cy="2880"/>
          </a:xfrm>
        </p:grpSpPr>
        <p:sp>
          <p:nvSpPr>
            <p:cNvPr id="8" name="文本框 7"/>
            <p:cNvSpPr txBox="1"/>
            <p:nvPr/>
          </p:nvSpPr>
          <p:spPr>
            <a:xfrm>
              <a:off x="1896" y="6129"/>
              <a:ext cx="4596" cy="288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sz="2200" b="1">
                  <a:solidFill>
                    <a:srgbClr val="005293"/>
                  </a:solidFill>
                  <a:sym typeface="+mn-ea"/>
                </a:rPr>
                <a:t>HeartbeatService</a:t>
              </a:r>
              <a:endParaRPr sz="2200" b="1">
                <a:solidFill>
                  <a:srgbClr val="005293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LLM-driven decision loop: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  Phase 1: Read HEARTBEAT.md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>
                  <a:solidFill>
                    <a:srgbClr val="000000"/>
                  </a:solidFill>
                  <a:sym typeface="+mn-ea"/>
                </a:rPr>
                <a:t>  Ask LLM: Any tasks?</a:t>
              </a:r>
              <a:endParaRPr sz="1600" b="0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  Phase 2: Execute if needed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endParaRPr lang="zh-CN" altLang="en-US" sz="1600">
                <a:solidFill>
                  <a:srgbClr val="000000"/>
                </a:solidFill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803" y="6129"/>
              <a:ext cx="5427" cy="286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sz="2200" b="1">
                  <a:solidFill>
                    <a:srgbClr val="008000"/>
                  </a:solidFill>
                  <a:sym typeface="+mn-ea"/>
                </a:rPr>
                <a:t>CronService</a:t>
              </a:r>
              <a:endParaRPr sz="2200" b="1">
                <a:solidFill>
                  <a:srgbClr val="008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3 scheduling modes: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  • at (one-shot)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  • every (interval)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sz="1600" b="1">
                  <a:solidFill>
                    <a:srgbClr val="000000"/>
                  </a:solidFill>
                  <a:sym typeface="+mn-ea"/>
                </a:rPr>
                <a:t>  • cron (standard expr)</a:t>
              </a:r>
              <a:endParaRPr sz="1600" b="1">
                <a:solidFill>
                  <a:srgbClr val="000000"/>
                </a:solidFill>
              </a:endParaRPr>
            </a:p>
            <a:p>
              <a:pPr>
                <a:spcBef>
                  <a:spcPts val="600"/>
                </a:spcBef>
              </a:pPr>
              <a:endParaRPr lang="zh-CN" altLang="en-US" sz="1600">
                <a:solidFill>
                  <a:srgbClr val="000000"/>
                </a:solidFill>
                <a:sym typeface="+mn-ea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6085" y="2035810"/>
            <a:ext cx="596138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solidFill>
                  <a:srgbClr val="000000"/>
                </a:solidFill>
              </a:rPr>
              <a:t>Together, Cron + Heartbeat enable: daily digest summaries, proactive reminders, periodic data collection, and other autonomous behaviours that go beyond a simple reactive chatbot.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4354830" y="81915"/>
            <a:ext cx="4938395" cy="521970"/>
            <a:chOff x="9935" y="159"/>
            <a:chExt cx="7777" cy="822"/>
          </a:xfrm>
        </p:grpSpPr>
        <p:sp>
          <p:nvSpPr>
            <p:cNvPr id="7" name="文本框 6"/>
            <p:cNvSpPr txBox="1"/>
            <p:nvPr/>
          </p:nvSpPr>
          <p:spPr>
            <a:xfrm>
              <a:off x="11113" y="159"/>
              <a:ext cx="659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Cloud Deployment &amp; CI/CD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1" name="等腰三角形 10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Title 1"/>
          <p:cNvSpPr txBox="1"/>
          <p:nvPr/>
        </p:nvSpPr>
        <p:spPr>
          <a:xfrm>
            <a:off x="75161" y="73999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GitHub Actions CI/CD Pipeline</a:t>
            </a:r>
            <a:endParaRPr lang="en-US" altLang="zh-CN" sz="3600" b="1" dirty="0">
              <a:solidFill>
                <a:srgbClr val="003366"/>
              </a:solidFill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103880" y="1342390"/>
            <a:ext cx="8994140" cy="4172585"/>
          </a:xfrm>
          <a:prstGeom prst="rect">
            <a:avLst/>
          </a:prstGeom>
        </p:spPr>
      </p:pic>
      <p:sp>
        <p:nvSpPr>
          <p:cNvPr id="13" name="Rounded Rectangle 6"/>
          <p:cNvSpPr/>
          <p:nvPr>
            <p:custDataLst>
              <p:tags r:id="rId4"/>
            </p:custDataLst>
          </p:nvPr>
        </p:nvSpPr>
        <p:spPr>
          <a:xfrm>
            <a:off x="771592" y="5640070"/>
            <a:ext cx="1792487" cy="1022985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7"/>
          <p:cNvSpPr txBox="1"/>
          <p:nvPr>
            <p:custDataLst>
              <p:tags r:id="rId5"/>
            </p:custDataLst>
          </p:nvPr>
        </p:nvSpPr>
        <p:spPr>
          <a:xfrm>
            <a:off x="771592" y="5884500"/>
            <a:ext cx="1792487" cy="6818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Push to main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100">
                <a:solidFill>
                  <a:srgbClr val="FFFFFF"/>
                </a:solidFill>
              </a:rPr>
              <a:t>GitHub webhook triggered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8" name="Rounded Rectangle 8"/>
          <p:cNvSpPr/>
          <p:nvPr>
            <p:custDataLst>
              <p:tags r:id="rId6"/>
            </p:custDataLst>
          </p:nvPr>
        </p:nvSpPr>
        <p:spPr>
          <a:xfrm>
            <a:off x="2808509" y="5640070"/>
            <a:ext cx="1792487" cy="102298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9"/>
          <p:cNvSpPr txBox="1"/>
          <p:nvPr>
            <p:custDataLst>
              <p:tags r:id="rId7"/>
            </p:custDataLst>
          </p:nvPr>
        </p:nvSpPr>
        <p:spPr>
          <a:xfrm>
            <a:off x="2808509" y="5884500"/>
            <a:ext cx="1792487" cy="4684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CI Tests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100">
                <a:solidFill>
                  <a:srgbClr val="FFFFFF"/>
                </a:solidFill>
              </a:rPr>
              <a:t>pytest, ruff lint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0" name="Rounded Rectangle 10"/>
          <p:cNvSpPr/>
          <p:nvPr>
            <p:custDataLst>
              <p:tags r:id="rId8"/>
            </p:custDataLst>
          </p:nvPr>
        </p:nvSpPr>
        <p:spPr>
          <a:xfrm>
            <a:off x="4845427" y="5640070"/>
            <a:ext cx="1792487" cy="1022985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11"/>
          <p:cNvSpPr txBox="1"/>
          <p:nvPr>
            <p:custDataLst>
              <p:tags r:id="rId9"/>
            </p:custDataLst>
          </p:nvPr>
        </p:nvSpPr>
        <p:spPr>
          <a:xfrm>
            <a:off x="4845427" y="5884500"/>
            <a:ext cx="1792487" cy="6818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Build Docker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100">
                <a:solidFill>
                  <a:srgbClr val="FFFFFF"/>
                </a:solidFill>
              </a:rPr>
              <a:t>docker build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2" name="Rounded Rectangle 12"/>
          <p:cNvSpPr/>
          <p:nvPr>
            <p:custDataLst>
              <p:tags r:id="rId10"/>
            </p:custDataLst>
          </p:nvPr>
        </p:nvSpPr>
        <p:spPr>
          <a:xfrm>
            <a:off x="6882344" y="5640070"/>
            <a:ext cx="1792487" cy="102298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13"/>
          <p:cNvSpPr txBox="1"/>
          <p:nvPr>
            <p:custDataLst>
              <p:tags r:id="rId11"/>
            </p:custDataLst>
          </p:nvPr>
        </p:nvSpPr>
        <p:spPr>
          <a:xfrm>
            <a:off x="6882344" y="5884500"/>
            <a:ext cx="1792487" cy="6818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SSH Deploy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100">
                <a:solidFill>
                  <a:srgbClr val="FFFFFF"/>
                </a:solidFill>
              </a:rPr>
              <a:t>EC2 instance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4" name="Rounded Rectangle 14"/>
          <p:cNvSpPr/>
          <p:nvPr>
            <p:custDataLst>
              <p:tags r:id="rId12"/>
            </p:custDataLst>
          </p:nvPr>
        </p:nvSpPr>
        <p:spPr>
          <a:xfrm>
            <a:off x="8919261" y="5640070"/>
            <a:ext cx="1792487" cy="1022985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15"/>
          <p:cNvSpPr txBox="1"/>
          <p:nvPr>
            <p:custDataLst>
              <p:tags r:id="rId13"/>
            </p:custDataLst>
          </p:nvPr>
        </p:nvSpPr>
        <p:spPr>
          <a:xfrm>
            <a:off x="8919261" y="5884500"/>
            <a:ext cx="1792487" cy="6818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Restart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100">
                <a:solidFill>
                  <a:srgbClr val="FFFFFF"/>
                </a:solidFill>
              </a:rPr>
              <a:t>docker-compose up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0" y="2189480"/>
            <a:ext cx="2907665" cy="2479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sym typeface="+mn-ea"/>
              </a:rPr>
              <a:t>✓ Automated testing on multiple Python versions (3.11, 3.12, 3.13)</a:t>
            </a:r>
            <a:endParaRPr sz="2000">
              <a:solidFill>
                <a:srgbClr val="000000"/>
              </a:solidFill>
            </a:endParaRP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sym typeface="+mn-ea"/>
              </a:rPr>
              <a:t>✓ One-command deployment after git push</a:t>
            </a:r>
            <a:endParaRPr sz="2000">
              <a:solidFill>
                <a:srgbClr val="000000"/>
              </a:solidFill>
            </a:endParaRP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sym typeface="+mn-ea"/>
              </a:rPr>
              <a:t>✓ No manual intervention required</a:t>
            </a:r>
            <a:endParaRPr lang="zh-CN" altLang="en-US" sz="2000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4358640" y="88265"/>
            <a:ext cx="4878070" cy="521970"/>
            <a:chOff x="9935" y="159"/>
            <a:chExt cx="7682" cy="822"/>
          </a:xfrm>
        </p:grpSpPr>
        <p:sp>
          <p:nvSpPr>
            <p:cNvPr id="7" name="文本框 6"/>
            <p:cNvSpPr txBox="1"/>
            <p:nvPr/>
          </p:nvSpPr>
          <p:spPr>
            <a:xfrm>
              <a:off x="11113" y="159"/>
              <a:ext cx="650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Bef>
                  <a:spcPts val="1400"/>
                </a:spcBef>
                <a:spcAft>
                  <a:spcPts val="800"/>
                </a:spcAft>
              </a:pPr>
              <a:r>
                <a:rPr sz="2800" b="1">
                  <a:solidFill>
                    <a:srgbClr val="003366"/>
                  </a:solidFill>
                  <a:sym typeface="+mn-ea"/>
                </a:rPr>
                <a:t>Cost Analysis &amp; Conclusion</a:t>
              </a:r>
              <a:endPara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 rot="10800000">
              <a:off x="9935" y="159"/>
              <a:ext cx="1034" cy="812"/>
              <a:chOff x="3602368" y="2540682"/>
              <a:chExt cx="994180" cy="810072"/>
            </a:xfrm>
          </p:grpSpPr>
          <p:sp>
            <p:nvSpPr>
              <p:cNvPr id="11" name="等腰三角形 10"/>
              <p:cNvSpPr/>
              <p:nvPr/>
            </p:nvSpPr>
            <p:spPr>
              <a:xfrm rot="10800000">
                <a:off x="3602368" y="2540682"/>
                <a:ext cx="994180" cy="810072"/>
              </a:xfrm>
              <a:prstGeom prst="triangle">
                <a:avLst/>
              </a:prstGeom>
              <a:solidFill>
                <a:srgbClr val="2F69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>
                <a:off x="3858584" y="2540682"/>
                <a:ext cx="481748" cy="4295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927975" y="1178560"/>
            <a:ext cx="4107180" cy="5377815"/>
            <a:chOff x="12334" y="1369"/>
            <a:chExt cx="6468" cy="8469"/>
          </a:xfrm>
        </p:grpSpPr>
        <p:sp>
          <p:nvSpPr>
            <p:cNvPr id="8" name="TextBox 6"/>
            <p:cNvSpPr txBox="1"/>
            <p:nvPr/>
          </p:nvSpPr>
          <p:spPr>
            <a:xfrm>
              <a:off x="12334" y="1369"/>
              <a:ext cx="6469" cy="499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sz="2200" b="1">
                  <a:solidFill>
                    <a:srgbClr val="008000"/>
                  </a:solidFill>
                </a:rPr>
                <a:t>7 Mandatory Requirements</a:t>
              </a:r>
              <a:endParaRPr sz="2200" b="1">
                <a:solidFill>
                  <a:srgbClr val="008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Telegram Chatbot (@smart1238_bot)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Redis Cloud Database Logging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AWS EC2 Cloud Hosting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HKBU GenAI LLM Integration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Git Version Control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Docker Containerization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Monitoring &amp; Cost Management ($0.00)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12334" y="6122"/>
              <a:ext cx="4940" cy="371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sz="2200" b="1">
                  <a:solidFill>
                    <a:srgbClr val="005293"/>
                  </a:solidFill>
                </a:rPr>
                <a:t>Nice-to-Have Features</a:t>
              </a:r>
              <a:endParaRPr sz="2200" b="1">
                <a:solidFill>
                  <a:srgbClr val="005293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CI/CD Automation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Multi-container Orchestration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Security Hardening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Auto-Compact Optimization</a:t>
              </a:r>
              <a:endParaRPr sz="1600">
                <a:solidFill>
                  <a:srgbClr val="000000"/>
                </a:solidFill>
              </a:endParaRPr>
            </a:p>
            <a:p>
              <a:pPr>
                <a:spcBef>
                  <a:spcPts val="800"/>
                </a:spcBef>
              </a:pPr>
              <a:r>
                <a:rPr sz="1600">
                  <a:solidFill>
                    <a:srgbClr val="000000"/>
                  </a:solidFill>
                </a:rPr>
                <a:t>✅ Cron + Heartbeat Scheduling</a:t>
              </a:r>
              <a:endParaRPr sz="1600">
                <a:solidFill>
                  <a:srgbClr val="000000"/>
                </a:solidFill>
              </a:endParaRPr>
            </a:p>
          </p:txBody>
        </p:sp>
      </p:grpSp>
      <p:sp>
        <p:nvSpPr>
          <p:cNvPr id="17" name="Title 1"/>
          <p:cNvSpPr txBox="1"/>
          <p:nvPr/>
        </p:nvSpPr>
        <p:spPr>
          <a:xfrm>
            <a:off x="75161" y="739990"/>
            <a:ext cx="11706505" cy="660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600" b="1">
                <a:solidFill>
                  <a:srgbClr val="003366"/>
                </a:solidFill>
                <a:sym typeface="+mn-ea"/>
              </a:rPr>
              <a:t>Conclusion</a:t>
            </a:r>
            <a:endParaRPr lang="en-US" altLang="zh-CN" sz="3600" b="1" dirty="0">
              <a:solidFill>
                <a:srgbClr val="003366"/>
              </a:solidFill>
              <a:sym typeface="+mn-ea"/>
            </a:endParaRPr>
          </a:p>
        </p:txBody>
      </p:sp>
      <p:pic>
        <p:nvPicPr>
          <p:cNvPr id="29" name="图片 28" descr="1280X1280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5" y="1657350"/>
            <a:ext cx="7246620" cy="26949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383540" y="4307840"/>
            <a:ext cx="6927850" cy="2325370"/>
            <a:chOff x="604" y="6664"/>
            <a:chExt cx="10910" cy="3662"/>
          </a:xfrm>
        </p:grpSpPr>
        <p:sp>
          <p:nvSpPr>
            <p:cNvPr id="31" name="文本框 30"/>
            <p:cNvSpPr txBox="1"/>
            <p:nvPr/>
          </p:nvSpPr>
          <p:spPr>
            <a:xfrm>
              <a:off x="604" y="6664"/>
              <a:ext cx="10911" cy="70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spcAft>
                  <a:spcPct val="60000"/>
                </a:spcAft>
              </a:pPr>
              <a:r>
                <a:rPr lang="en-US" altLang="zh-CN" sz="2300" b="1"/>
                <a:t>Reference</a:t>
              </a:r>
              <a:r>
                <a:rPr lang="en-US" altLang="zh-CN" sz="2300" b="1"/>
                <a:t>s</a:t>
              </a:r>
              <a:endParaRPr lang="en-US" altLang="zh-CN" sz="2300" b="1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03" y="7468"/>
              <a:ext cx="9600" cy="285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nanobot framework: https://github.com/HKUDS/nanobot</a:t>
              </a:r>
              <a:endParaRPr lang="en-US" altLang="zh-CN" sz="1600"/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nanobot documentation: https://nanobot.wiki/</a:t>
              </a:r>
              <a:endParaRPr lang="en-US" altLang="zh-CN" sz="1600"/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HKBU GenAI Platform: https://genai.hkbu.edu.hk/</a:t>
              </a:r>
              <a:endParaRPr lang="en-US" altLang="zh-CN" sz="1600"/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AWS EC2 Documentation: https://docs.aws.amazon.com/ec2/</a:t>
              </a:r>
              <a:endParaRPr lang="en-US" altLang="zh-CN" sz="1600"/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Docker Documentation: https://docs.docker.com/</a:t>
              </a:r>
              <a:endParaRPr lang="en-US" altLang="zh-CN" sz="1600"/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Redis Cloud: https://redis.io/cloud/</a:t>
              </a:r>
              <a:endParaRPr lang="en-US" altLang="zh-CN" sz="1600"/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 sz="1600">
                  <a:sym typeface="+mn-ea"/>
                </a:rPr>
                <a:t>python-telegram-bot: https://docs.python-telegram-bot.org/</a:t>
              </a:r>
              <a:endParaRPr lang="en-US" altLang="zh-CN" sz="1600"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81197"/>
            <a:ext cx="12192000" cy="110464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10315"/>
            <a:ext cx="12192000" cy="64746"/>
          </a:xfrm>
          <a:prstGeom prst="rect">
            <a:avLst/>
          </a:prstGeom>
          <a:gradFill flip="none" rotWithShape="1">
            <a:gsLst>
              <a:gs pos="0">
                <a:srgbClr val="C1D1EB"/>
              </a:gs>
              <a:gs pos="0">
                <a:srgbClr val="15589D"/>
              </a:gs>
              <a:gs pos="76000">
                <a:srgbClr val="89BCEF"/>
              </a:gs>
              <a:gs pos="0">
                <a:srgbClr val="104CA4"/>
              </a:gs>
              <a:gs pos="100000">
                <a:srgbClr val="BCD9F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香港浸会大学_百度百科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0" y="-116602"/>
            <a:ext cx="865304" cy="86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s - 计算机科学系标志设计比赛| HKBU CO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440" y="13323"/>
            <a:ext cx="2403560" cy="6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594930" y="107194"/>
            <a:ext cx="1238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Thanks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 rot="10800000">
            <a:off x="6308744" y="101258"/>
            <a:ext cx="656650" cy="515502"/>
            <a:chOff x="3602368" y="2540682"/>
            <a:chExt cx="994180" cy="810072"/>
          </a:xfrm>
        </p:grpSpPr>
        <p:sp>
          <p:nvSpPr>
            <p:cNvPr id="11" name="等腰三角形 10"/>
            <p:cNvSpPr/>
            <p:nvPr/>
          </p:nvSpPr>
          <p:spPr>
            <a:xfrm rot="10800000">
              <a:off x="3602368" y="2540682"/>
              <a:ext cx="994180" cy="810072"/>
            </a:xfrm>
            <a:prstGeom prst="triangle">
              <a:avLst/>
            </a:prstGeom>
            <a:solidFill>
              <a:srgbClr val="2F69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3858584" y="2540682"/>
              <a:ext cx="481748" cy="4295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037857" y="3105834"/>
            <a:ext cx="2116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i="1" dirty="0"/>
              <a:t>Thank you</a:t>
            </a:r>
            <a:endParaRPr lang="zh-CN" altLang="en-US" sz="3600" i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2,&quot;left&quot;:36,&quot;top&quot;:129.6,&quot;width&quot;:360}"/>
</p:tagLst>
</file>

<file path=ppt/tags/tag2.xml><?xml version="1.0" encoding="utf-8"?>
<p:tagLst xmlns:p="http://schemas.openxmlformats.org/presentationml/2006/main">
  <p:tag name="KSO_WM_DIAGRAM_VIRTUALLY_FRAME" val="{&quot;height&quot;:259.2,&quot;left&quot;:36,&quot;top&quot;:129.6,&quot;width&quot;:360}"/>
</p:tagLst>
</file>

<file path=ppt/tags/tag3.xml><?xml version="1.0" encoding="utf-8"?>
<p:tagLst xmlns:p="http://schemas.openxmlformats.org/presentationml/2006/main">
  <p:tag name="KSO_WM_DIAGRAM_VIRTUALLY_FRAME" val="{&quot;height&quot;:259.2,&quot;left&quot;:36,&quot;top&quot;:129.6,&quot;width&quot;:360}"/>
</p:tagLst>
</file>

<file path=ppt/tags/tag4.xml><?xml version="1.0" encoding="utf-8"?>
<p:tagLst xmlns:p="http://schemas.openxmlformats.org/presentationml/2006/main">
  <p:tag name="KSO_WM_DIAGRAM_VIRTUALLY_FRAME" val="{&quot;height&quot;:259.2,&quot;left&quot;:36,&quot;top&quot;:129.6,&quot;width&quot;:360}"/>
</p:tagLst>
</file>

<file path=ppt/tags/tag5.xml><?xml version="1.0" encoding="utf-8"?>
<p:tagLst xmlns:p="http://schemas.openxmlformats.org/presentationml/2006/main">
  <p:tag name="KSO_WM_DIAGRAM_VIRTUALLY_FRAME" val="{&quot;height&quot;:259.2,&quot;left&quot;:36,&quot;top&quot;:129.6,&quot;width&quot;:360}"/>
</p:tagLst>
</file>

<file path=ppt/tags/tag6.xml><?xml version="1.0" encoding="utf-8"?>
<p:tagLst xmlns:p="http://schemas.openxmlformats.org/presentationml/2006/main">
  <p:tag name="KSO_WM_DIAGRAM_VIRTUALLY_FRAME" val="{&quot;height&quot;:259.2,&quot;left&quot;:36,&quot;top&quot;:129.6,&quot;width&quot;:360}"/>
</p:tagLst>
</file>

<file path=ppt/tags/tag7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8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9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0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1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2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3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4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5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ags/tag16.xml><?xml version="1.0" encoding="utf-8"?>
<p:tagLst xmlns:p="http://schemas.openxmlformats.org/presentationml/2006/main">
  <p:tag name="KSO_WM_DIAGRAM_VIRTUALLY_FRAME" val="{&quot;height&quot;:80.55,&quot;left&quot;:12.9,&quot;top&quot;:444.1,&quot;width&quot;:903.7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4040</Words>
  <Application>WPS 表格</Application>
  <PresentationFormat>宽屏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汉仪书宋二KW</vt:lpstr>
      <vt:lpstr>等线</vt:lpstr>
      <vt:lpstr>汉仪中等线KW</vt:lpstr>
      <vt:lpstr>宋体</vt:lpstr>
      <vt:lpstr>Arial Unicode MS</vt:lpstr>
      <vt:lpstr>华文仿宋</vt:lpstr>
      <vt:lpstr>儷宋 Pro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Sitian Chen</dc:creator>
  <cp:lastModifiedBy>yuwenjun</cp:lastModifiedBy>
  <cp:revision>492</cp:revision>
  <dcterms:created xsi:type="dcterms:W3CDTF">2026-04-13T13:39:07Z</dcterms:created>
  <dcterms:modified xsi:type="dcterms:W3CDTF">2026-04-13T13:39:07Z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CDA3CA161DA27C7190F1DC69AA2C5686_43</vt:lpwstr>
  </property>
  <property fmtid="{D5CDD505-2E9C-101B-9397-08002B2CF9AE}" pid="3" name="KSOProductBuildVer">
    <vt:lpwstr>2052-12.1.25867.25867</vt:lpwstr>
  </property>
</Properties>
</file>